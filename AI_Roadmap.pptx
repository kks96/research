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4384000" cy="13716000"/>
  <p:notesSz cx="6858000" cy="9144000"/>
  <p:embeddedFontLst>
    <p:embeddedFont>
      <p:font typeface="IBM Plex Sans KR Bold"/>
      <p:regular r:id="rId23"/>
      <p:bold r:id="rId24"/>
    </p:embeddedFont>
    <p:embeddedFont>
      <p:font typeface="Public Sans SemiBold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1.fntdata" Type="http://schemas.openxmlformats.org/officeDocument/2006/relationships/font"/><Relationship Id="rId24" Target="fonts/font2.fntdata" Type="http://schemas.openxmlformats.org/officeDocument/2006/relationships/font"/><Relationship Id="rId25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11.png" Type="http://schemas.openxmlformats.org/officeDocument/2006/relationships/image"/><Relationship Id="rId15" Target="../media/image16.png" Type="http://schemas.openxmlformats.org/officeDocument/2006/relationships/image"/><Relationship Id="rId16" Target="../media/image42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7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png" Type="http://schemas.openxmlformats.org/officeDocument/2006/relationships/image"/><Relationship Id="rId2" Target="../media/image107.png" Type="http://schemas.openxmlformats.org/officeDocument/2006/relationships/image"/><Relationship Id="rId3" Target="../media/image108.png" Type="http://schemas.openxmlformats.org/officeDocument/2006/relationships/image"/><Relationship Id="rId4" Target="../media/image109.png" Type="http://schemas.openxmlformats.org/officeDocument/2006/relationships/image"/><Relationship Id="rId5" Target="../media/image110.png" Type="http://schemas.openxmlformats.org/officeDocument/2006/relationships/image"/><Relationship Id="rId6" Target="../media/image111.png" Type="http://schemas.openxmlformats.org/officeDocument/2006/relationships/image"/><Relationship Id="rId7" Target="../media/image112.png" Type="http://schemas.openxmlformats.org/officeDocument/2006/relationships/image"/><Relationship Id="rId8" Target="../media/image113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7.png" Type="http://schemas.openxmlformats.org/officeDocument/2006/relationships/image"/><Relationship Id="rId3" Target="../media/image7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21480000">
            <a:off x="-673100" y="3429000"/>
            <a:ext cx="28257500" cy="579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91200" y="4889500"/>
            <a:ext cx="203200" cy="203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791700" y="6426200"/>
            <a:ext cx="203200" cy="20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3365500" y="74168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800100" y="38989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23241000" y="7975600"/>
            <a:ext cx="203200" cy="20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2687300" y="5156200"/>
            <a:ext cx="203200" cy="20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63700" y="3048000"/>
            <a:ext cx="8013700" cy="960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3492500"/>
            <a:ext cx="6591300" cy="571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81500" y="4292600"/>
            <a:ext cx="3378200" cy="3022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839700" y="609600"/>
            <a:ext cx="106807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 Practical AI training for professionals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100" y="711200"/>
            <a:ext cx="24765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l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Company Name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71900" y="9817100"/>
            <a:ext cx="9575800" cy="2349500"/>
          </a:xfrm>
          <a:prstGeom prst="rect">
            <a:avLst/>
          </a:prstGeom>
        </p:spPr>
        <p:txBody>
          <a:bodyPr anchor="t" rtlCol="false" lIns="0" tIns="296497" rIns="0" bIns="0"/>
          <a:lstStyle/>
          <a:p>
            <a:pPr algn="l" lvl="0">
              <a:lnSpc>
                <a:spcPct val="84660"/>
              </a:lnSpc>
            </a:pPr>
            <a:r>
              <a:rPr lang="en-US" sz="12287" b="false" i="false" u="none" strike="noStrike" spc="-3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 AI Roadmap 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2159000" y="7721600"/>
            <a:ext cx="83312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7886700" y="7721600"/>
            <a:ext cx="83312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3576300" y="7747000"/>
            <a:ext cx="83312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 rot="0">
            <a:off x="635000" y="9956800"/>
            <a:ext cx="22860000" cy="1968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35000" y="622300"/>
            <a:ext cx="135509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Overview of Today’s Session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66000" y="3022600"/>
            <a:ext cx="1016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8200" y="30226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7800" y="5156200"/>
            <a:ext cx="41910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0500" y="30226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73200" y="30226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8300" y="11023600"/>
            <a:ext cx="4191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8300" y="10325100"/>
            <a:ext cx="4064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10477500"/>
            <a:ext cx="139700" cy="254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11176000"/>
            <a:ext cx="139700" cy="254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378700" y="11023600"/>
            <a:ext cx="4305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8700" y="10325100"/>
            <a:ext cx="3873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45300" y="10477500"/>
            <a:ext cx="139700" cy="25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45300" y="11176000"/>
            <a:ext cx="139700" cy="254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131800" y="11023600"/>
            <a:ext cx="4292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1800" y="10325100"/>
            <a:ext cx="4064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598400" y="10477500"/>
            <a:ext cx="139700" cy="254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598400" y="11176000"/>
            <a:ext cx="139700" cy="254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8821400" y="11023600"/>
            <a:ext cx="4178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821400" y="10325100"/>
            <a:ext cx="41529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288000" y="10477500"/>
            <a:ext cx="139700" cy="254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288000" y="11176000"/>
            <a:ext cx="139700" cy="2540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2044700" y="4241800"/>
            <a:ext cx="30226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Concepts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13600" y="4876800"/>
            <a:ext cx="39878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Applications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76300" y="5511800"/>
            <a:ext cx="26670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Prompt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770600" y="6146800"/>
            <a:ext cx="36195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Guidelines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26300" y="5791200"/>
            <a:ext cx="39370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01600" y="6426200"/>
            <a:ext cx="4216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453100" y="7061200"/>
            <a:ext cx="42418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673100" y="3543300"/>
            <a:ext cx="22758400" cy="254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10800000">
            <a:off x="660400" y="9956800"/>
            <a:ext cx="22783800" cy="25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73100" y="6718300"/>
            <a:ext cx="5765800" cy="203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235700" y="7353300"/>
            <a:ext cx="5918200" cy="203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950700" y="7988300"/>
            <a:ext cx="5918200" cy="203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653000" y="8623300"/>
            <a:ext cx="58420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9E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34100" y="4584700"/>
            <a:ext cx="12128500" cy="3390900"/>
          </a:xfrm>
          <a:prstGeom prst="rect">
            <a:avLst/>
          </a:prstGeom>
        </p:spPr>
        <p:txBody>
          <a:bodyPr anchor="t" rtlCol="false" lIns="0" tIns="188509" rIns="0" bIns="0"/>
          <a:lstStyle/>
          <a:p>
            <a:pPr algn="ctr" lvl="0">
              <a:lnSpc>
                <a:spcPct val="92130"/>
              </a:lnSpc>
            </a:pPr>
            <a:r>
              <a:rPr lang="en-US" sz="10236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In what situations did you use it?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95800" y="8610600"/>
            <a:ext cx="15392400" cy="2463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753100" y="9359900"/>
            <a:ext cx="12877800" cy="965200"/>
          </a:xfrm>
          <a:prstGeom prst="rect">
            <a:avLst/>
          </a:prstGeom>
        </p:spPr>
        <p:txBody>
          <a:bodyPr anchor="t" rtlCol="false" lIns="0" tIns="29994" rIns="0" bIns="0"/>
          <a:lstStyle/>
          <a:p>
            <a:pPr algn="ctr" lvl="0">
              <a:lnSpc>
                <a:spcPct val="102089"/>
              </a:lnSpc>
            </a:pPr>
            <a:r>
              <a:rPr lang="en-US" sz="2778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more details about your design project. Enter relevant details here.Add more details about your design project. Add more details about your design project.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55300" y="2070100"/>
            <a:ext cx="30988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02700" y="-152400"/>
            <a:ext cx="15633700" cy="14046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622300"/>
            <a:ext cx="115697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Why AI Now?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8500" y="8953500"/>
            <a:ext cx="6057900" cy="242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 Add a short description about the topic.  Explain the relevant details that are related to the relevant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48700" y="3632200"/>
            <a:ext cx="5905500" cy="111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48700" y="7137400"/>
            <a:ext cx="5905500" cy="1117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48700" y="10642600"/>
            <a:ext cx="5905500" cy="111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699000" y="7264400"/>
            <a:ext cx="7226300" cy="863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98500" y="622300"/>
            <a:ext cx="17653000" cy="16002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 Output Types of AI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7137400"/>
            <a:ext cx="6388100" cy="1117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27200" y="7251700"/>
            <a:ext cx="42037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Core definition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8699500"/>
            <a:ext cx="55118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2300" y="3733800"/>
            <a:ext cx="42037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Core definition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87600" y="3683000"/>
            <a:ext cx="83566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 Relevant details that are related to the information. Short description.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2300" y="7251700"/>
            <a:ext cx="42037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Output types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62200" y="7188200"/>
            <a:ext cx="82296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 Relevant details that are related to the information. Short description.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21500" y="7594600"/>
            <a:ext cx="1841500" cy="203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512300" y="10744200"/>
            <a:ext cx="42037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Modern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87600" y="10693400"/>
            <a:ext cx="83312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 Relevant details that are related to the information. Short description.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622300"/>
            <a:ext cx="9525000" cy="28448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 Output Types of</a:t>
            </a:r>
          </a:p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Generative 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07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5740400"/>
            <a:ext cx="5689600" cy="1117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68500" y="5842000"/>
            <a:ext cx="30226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Text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24600" y="5740400"/>
            <a:ext cx="5715000" cy="111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188200" y="5842000"/>
            <a:ext cx="39878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Information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39600" y="5740400"/>
            <a:ext cx="5715000" cy="1117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563600" y="5842000"/>
            <a:ext cx="26670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Image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54600" y="5740400"/>
            <a:ext cx="5740400" cy="111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 rot="0">
            <a:off x="698500" y="9740900"/>
            <a:ext cx="22796500" cy="2120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352800" y="8813800"/>
            <a:ext cx="5969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9055100" y="8788400"/>
            <a:ext cx="59944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744700" y="8801100"/>
            <a:ext cx="5981700" cy="25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8821400" y="5842000"/>
            <a:ext cx="36195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Idea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500" y="1714500"/>
            <a:ext cx="114681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add a short description about the topic. Explain the relevant details that are related to the relevant information. Relevant details that are related to the information. Please add a short description about the topic.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9600" y="1130300"/>
            <a:ext cx="89027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ublic Sans SemiBold"/>
                <a:ea typeface="Public Sans SemiBold"/>
                <a:cs typeface="Public Sans SemiBold"/>
              </a:rPr>
              <a:t>Please enter relevant details here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8300" y="10909300"/>
            <a:ext cx="3733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300" y="10210800"/>
            <a:ext cx="3924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04900" y="10337800"/>
            <a:ext cx="139700" cy="254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4900" y="11036300"/>
            <a:ext cx="139700" cy="2540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378700" y="10909300"/>
            <a:ext cx="3733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78700" y="10210800"/>
            <a:ext cx="4013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45300" y="10337800"/>
            <a:ext cx="139700" cy="254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45300" y="11036300"/>
            <a:ext cx="139700" cy="2540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3131800" y="10909300"/>
            <a:ext cx="3733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31800" y="10210800"/>
            <a:ext cx="3860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598400" y="10337800"/>
            <a:ext cx="139700" cy="254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598400" y="11036300"/>
            <a:ext cx="139700" cy="25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8821400" y="10909300"/>
            <a:ext cx="3733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821400" y="10210800"/>
            <a:ext cx="3810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288000" y="10337800"/>
            <a:ext cx="139700" cy="254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288000" y="11036300"/>
            <a:ext cx="139700" cy="2540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092200" y="7289800"/>
            <a:ext cx="48260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45300" y="7289800"/>
            <a:ext cx="48895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98400" y="7289800"/>
            <a:ext cx="4851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288000" y="7289800"/>
            <a:ext cx="4991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9E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83400" y="8978900"/>
            <a:ext cx="10617200" cy="2146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318500" y="9512300"/>
            <a:ext cx="78613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930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1.   Review the outcome created by AI</a:t>
            </a:r>
          </a:p>
          <a:p>
            <a:pPr algn="l" lvl="0">
              <a:lnSpc>
                <a:spcPct val="141930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2.  Learn how to write the prompt that produces 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1300" y="4597400"/>
            <a:ext cx="8674100" cy="1955800"/>
          </a:xfrm>
          <a:prstGeom prst="rect">
            <a:avLst/>
          </a:prstGeom>
        </p:spPr>
        <p:txBody>
          <a:bodyPr anchor="t" rtlCol="false" lIns="0" tIns="188509" rIns="0" bIns="0"/>
          <a:lstStyle/>
          <a:p>
            <a:pPr algn="ctr" lvl="0">
              <a:lnSpc>
                <a:spcPct val="92130"/>
              </a:lnSpc>
            </a:pPr>
            <a:r>
              <a:rPr lang="en-US" sz="10236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Use Cases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18400" y="6794500"/>
            <a:ext cx="93472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The fastest way to understand Gen AI is to see real examples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08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55300" y="2235200"/>
            <a:ext cx="30988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02700" y="1041400"/>
            <a:ext cx="7112000" cy="720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383000" y="1041400"/>
            <a:ext cx="7112000" cy="720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36700" y="6921500"/>
            <a:ext cx="14757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131300" y="6819900"/>
            <a:ext cx="145542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50300" y="6819900"/>
            <a:ext cx="145542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98500" y="622300"/>
            <a:ext cx="6629400" cy="16002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Use Cases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700" y="8953500"/>
            <a:ext cx="6108700" cy="289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 Add a short description about the topic.  Explain the relevant details that are related to the relevant information.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4200" y="9740900"/>
            <a:ext cx="60706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6100" y="8623300"/>
            <a:ext cx="5816600" cy="1028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l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Before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54500" y="9740900"/>
            <a:ext cx="60452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03700" y="8623300"/>
            <a:ext cx="5257800" cy="1028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l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After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 rot="0">
            <a:off x="13868400" y="1054100"/>
            <a:ext cx="9626600" cy="11531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35000" y="622300"/>
            <a:ext cx="8369300" cy="28448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Major Benefits of Using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14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14800" y="1879600"/>
            <a:ext cx="368300" cy="368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386300" y="1816100"/>
            <a:ext cx="1485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Item A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948400" y="1879600"/>
            <a:ext cx="368300" cy="368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519900" y="1816100"/>
            <a:ext cx="11303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Item 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5000" y="8356600"/>
            <a:ext cx="6946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 spc="-100">
                <a:solidFill>
                  <a:srgbClr val="000000"/>
                </a:solidFill>
                <a:latin typeface="Public Sans SemiBold"/>
                <a:ea typeface="Public Sans SemiBold"/>
                <a:cs typeface="Public Sans SemiBold"/>
              </a:rPr>
              <a:t>Improved work focus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000" y="8953500"/>
            <a:ext cx="11658600" cy="289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 Add a short description about the topic.  Explain the relevant details that are related to the relevant information. Add a short description about the topic. Explain the relevant details that are related to the relevant information. Add a short description about the topic.  Explain the relevant details that are related to the relevant information. 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3233400" y="6184900"/>
            <a:ext cx="8153400" cy="186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6662400" y="6184900"/>
            <a:ext cx="8153400" cy="1879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5976600" y="8953500"/>
            <a:ext cx="2654300" cy="186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7703800" y="7239000"/>
            <a:ext cx="6057900" cy="1879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408400" y="11442700"/>
            <a:ext cx="1803400" cy="482600"/>
          </a:xfrm>
          <a:prstGeom prst="rect">
            <a:avLst/>
          </a:prstGeom>
        </p:spPr>
        <p:txBody>
          <a:bodyPr anchor="t" rtlCol="false" lIns="0" tIns="33782" rIns="0" bIns="0"/>
          <a:lstStyle/>
          <a:p>
            <a:pPr algn="ctr" lvl="0">
              <a:lnSpc>
                <a:spcPct val="98770"/>
              </a:lnSpc>
            </a:pPr>
            <a:r>
              <a:rPr lang="en-US" sz="2533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Keyword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37400" y="11430000"/>
            <a:ext cx="1803400" cy="482600"/>
          </a:xfrm>
          <a:prstGeom prst="rect">
            <a:avLst/>
          </a:prstGeom>
        </p:spPr>
        <p:txBody>
          <a:bodyPr anchor="t" rtlCol="false" lIns="0" tIns="33782" rIns="0" bIns="0"/>
          <a:lstStyle/>
          <a:p>
            <a:pPr algn="ctr" lvl="0">
              <a:lnSpc>
                <a:spcPct val="98770"/>
              </a:lnSpc>
            </a:pPr>
            <a:r>
              <a:rPr lang="en-US" sz="2533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Keyword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79600" y="2844800"/>
            <a:ext cx="812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100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84400" y="6959600"/>
            <a:ext cx="495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50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4400" y="11010900"/>
            <a:ext cx="495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83000" y="9372600"/>
            <a:ext cx="1866900" cy="1028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ctr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40%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26300" y="7670800"/>
            <a:ext cx="1689100" cy="1028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ctr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90%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595600" y="11201400"/>
            <a:ext cx="68580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595600" y="3035300"/>
            <a:ext cx="6858000" cy="12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595600" y="7112000"/>
            <a:ext cx="6858000" cy="25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2700000">
            <a:off x="16459200" y="6769100"/>
            <a:ext cx="5067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988800" y="7429500"/>
            <a:ext cx="11480800" cy="2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622300"/>
            <a:ext cx="177165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Role-based AI Applications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15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3949700"/>
            <a:ext cx="2070100" cy="2070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479800" y="5054600"/>
            <a:ext cx="57150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9000" y="3962400"/>
            <a:ext cx="63754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l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Marketing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22200" y="3937000"/>
            <a:ext cx="2070100" cy="2070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316200" y="5041900"/>
            <a:ext cx="56769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65400" y="3949700"/>
            <a:ext cx="63754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l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Sales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22200" y="8648700"/>
            <a:ext cx="2070100" cy="2070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16200" y="9753600"/>
            <a:ext cx="62865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65400" y="8661400"/>
            <a:ext cx="63754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l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Project Execution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48700"/>
            <a:ext cx="2070100" cy="2070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10800000">
            <a:off x="698500" y="7429500"/>
            <a:ext cx="107188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9677400" y="5194300"/>
            <a:ext cx="39370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677400" y="9664700"/>
            <a:ext cx="39370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4394200"/>
            <a:ext cx="762000" cy="1181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979400" y="4559300"/>
            <a:ext cx="1155700" cy="825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5700" y="9118600"/>
            <a:ext cx="1130300" cy="1130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966700" y="9182100"/>
            <a:ext cx="1181100" cy="990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479800" y="9753600"/>
            <a:ext cx="62357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29000" y="8661400"/>
            <a:ext cx="63754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l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Operations/HR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74700" y="8623300"/>
            <a:ext cx="24066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3215600" y="8509000"/>
            <a:ext cx="317500" cy="266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8500" y="622300"/>
            <a:ext cx="6464300" cy="28448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Role-based AI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68400" y="1117600"/>
            <a:ext cx="6946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 spc="-100">
                <a:solidFill>
                  <a:srgbClr val="364055"/>
                </a:solidFill>
                <a:latin typeface="Public Sans SemiBold"/>
                <a:ea typeface="Public Sans SemiBold"/>
                <a:cs typeface="Public Sans SemiBold"/>
              </a:rPr>
              <a:t>Improved work focus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04900" y="1701800"/>
            <a:ext cx="9207500" cy="139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 Explain the relevant details that are related to the relevant information.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700" y="10401300"/>
            <a:ext cx="38100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33500" y="7531100"/>
            <a:ext cx="2209800" cy="254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57300" y="9220200"/>
            <a:ext cx="23495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Input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55700" y="4686300"/>
            <a:ext cx="2552700" cy="255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489700" y="10401300"/>
            <a:ext cx="39497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366000" y="7531100"/>
            <a:ext cx="2209800" cy="254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807200" y="9220200"/>
            <a:ext cx="33147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Generate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88200" y="4686300"/>
            <a:ext cx="2552700" cy="255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618200" y="10401300"/>
            <a:ext cx="37846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418300" y="7531100"/>
            <a:ext cx="2209800" cy="254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9367500" y="9232900"/>
            <a:ext cx="23114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Apply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240500" y="4686300"/>
            <a:ext cx="2565400" cy="25654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2649200" y="10401300"/>
            <a:ext cx="37846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423900" y="7531100"/>
            <a:ext cx="2222500" cy="2540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3335000" y="9232900"/>
            <a:ext cx="24130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Edit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71500" y="4699000"/>
            <a:ext cx="2540000" cy="2540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52600" y="5473700"/>
            <a:ext cx="1371600" cy="990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45400" y="5270500"/>
            <a:ext cx="1625600" cy="1460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862800" y="5410200"/>
            <a:ext cx="1320800" cy="1117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970000" y="5359400"/>
            <a:ext cx="1143000" cy="1219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4368800" y="7861300"/>
            <a:ext cx="2108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69600" y="78613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02100" y="78613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5000" y="622300"/>
            <a:ext cx="135509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Practice 1: Prompt Writing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4200" y="2743200"/>
            <a:ext cx="1079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17100" y="2743200"/>
            <a:ext cx="10160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03000" y="27432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" y="8585200"/>
            <a:ext cx="49784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88000" y="27432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18000" y="2743200"/>
            <a:ext cx="1460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6273800"/>
            <a:ext cx="5689600" cy="1816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400300" y="6477000"/>
            <a:ext cx="2159000" cy="13843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Define the role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24600" y="5245100"/>
            <a:ext cx="5715000" cy="1828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997700" y="5461000"/>
            <a:ext cx="4356100" cy="13843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Provide context and purpose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39600" y="4191000"/>
            <a:ext cx="5715000" cy="1816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347700" y="4406900"/>
            <a:ext cx="3098800" cy="13843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constraints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54600" y="3276600"/>
            <a:ext cx="5664200" cy="1816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326100" y="3492500"/>
            <a:ext cx="4533900" cy="13843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Share the completed prompt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1500" y="7607300"/>
            <a:ext cx="48260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74600" y="6527800"/>
            <a:ext cx="48387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364200" y="5689600"/>
            <a:ext cx="48260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3644900" y="7581900"/>
            <a:ext cx="8636000" cy="25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019300" y="7581900"/>
            <a:ext cx="8636000" cy="25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7734300" y="7581900"/>
            <a:ext cx="8636000" cy="2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13449300" y="7581900"/>
            <a:ext cx="8636000" cy="25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9113500" y="7581900"/>
            <a:ext cx="8636000" cy="25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660400" y="11887200"/>
            <a:ext cx="227838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622300"/>
            <a:ext cx="71374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Case Study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20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61400" y="3632200"/>
            <a:ext cx="6946900" cy="111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61400" y="7137400"/>
            <a:ext cx="6946900" cy="111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61400" y="10642600"/>
            <a:ext cx="6946900" cy="111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525000" y="3733800"/>
            <a:ext cx="52197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Problem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79800" y="3683000"/>
            <a:ext cx="7264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information. Short description about the topic.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21800" y="7251700"/>
            <a:ext cx="56261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Process of using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79800" y="7188200"/>
            <a:ext cx="7264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information. Short description about the topic. 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68400" y="4356100"/>
            <a:ext cx="4559300" cy="546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2100" y="4610100"/>
            <a:ext cx="3606800" cy="3124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87600" y="5245100"/>
            <a:ext cx="1612900" cy="1447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067800" y="10744200"/>
            <a:ext cx="61341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ct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Final work outcome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79800" y="10693400"/>
            <a:ext cx="7264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information. Short description about the topic.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10083800"/>
            <a:ext cx="4470400" cy="1028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ctr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Main Keyword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533900" y="7086600"/>
            <a:ext cx="7226300" cy="1244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24600" y="7594600"/>
            <a:ext cx="24511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622300"/>
            <a:ext cx="200533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Basic Principles for Using AI Safely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22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3000" y="7924800"/>
            <a:ext cx="5575300" cy="1117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75800" y="3517900"/>
            <a:ext cx="5575300" cy="111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11700" y="7924800"/>
            <a:ext cx="5575300" cy="1117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8148300" y="9550400"/>
            <a:ext cx="41021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89600" y="8089900"/>
            <a:ext cx="36195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Data Alert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41500" y="9550400"/>
            <a:ext cx="41783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100" y="8089900"/>
            <a:ext cx="49911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Use Transparency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500000">
            <a:off x="6972300" y="5359400"/>
            <a:ext cx="609600" cy="156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3840000">
            <a:off x="7797800" y="5384800"/>
            <a:ext cx="317500" cy="266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6600000">
            <a:off x="16573500" y="5207000"/>
            <a:ext cx="609600" cy="1562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8940000">
            <a:off x="17399000" y="6464300"/>
            <a:ext cx="317500" cy="26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40600" y="6934200"/>
            <a:ext cx="10033000" cy="5016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410700" y="5105400"/>
            <a:ext cx="5880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94900" y="3670300"/>
            <a:ext cx="46228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Check for copyright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9900" y="9017000"/>
            <a:ext cx="5994400" cy="20828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is a “support tool,”</a:t>
            </a:r>
          </a:p>
          <a:p>
            <a:pPr algn="ctr" lvl="0">
              <a:lnSpc>
                <a:spcPct val="107899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and final decisions must be made by humans.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820400" y="8039100"/>
            <a:ext cx="3073400" cy="609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972800" y="8115300"/>
            <a:ext cx="2768600" cy="482600"/>
          </a:xfrm>
          <a:prstGeom prst="rect">
            <a:avLst/>
          </a:prstGeom>
        </p:spPr>
        <p:txBody>
          <a:bodyPr anchor="t" rtlCol="false" lIns="0" tIns="62484" rIns="0" bIns="0"/>
          <a:lstStyle/>
          <a:p>
            <a:pPr algn="ctr" lvl="0">
              <a:lnSpc>
                <a:spcPct val="82170"/>
              </a:lnSpc>
            </a:pPr>
            <a:r>
              <a:rPr lang="en-US" sz="24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Work Changes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 rot="0">
            <a:off x="12001500" y="1244600"/>
            <a:ext cx="190500" cy="190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622300"/>
            <a:ext cx="171196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Comparison of AI Tool Types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23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75100" y="5003800"/>
            <a:ext cx="56769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75100" y="3962400"/>
            <a:ext cx="57023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l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Analytical Insight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0500" y="5003800"/>
            <a:ext cx="58420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3300" y="3962400"/>
            <a:ext cx="49530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Conversational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75100" y="10198100"/>
            <a:ext cx="56769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75100" y="9156700"/>
            <a:ext cx="57531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l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Summary-focused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7800" y="10198100"/>
            <a:ext cx="58420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3200" y="9156700"/>
            <a:ext cx="5765800" cy="914400"/>
          </a:xfrm>
          <a:prstGeom prst="rect">
            <a:avLst/>
          </a:prstGeom>
        </p:spPr>
        <p:txBody>
          <a:bodyPr anchor="t" rtlCol="false" lIns="0" tIns="62230" rIns="0" bIns="0"/>
          <a:lstStyle/>
          <a:p>
            <a:pPr algn="r" lvl="0">
              <a:lnSpc>
                <a:spcPct val="98770"/>
              </a:lnSpc>
            </a:pPr>
            <a:r>
              <a:rPr lang="en-US" sz="4666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Office-integrated AI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31200" y="3467100"/>
            <a:ext cx="7581900" cy="7581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81100" y="3721100"/>
            <a:ext cx="2032000" cy="2032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13700" y="8813800"/>
            <a:ext cx="2032000" cy="2032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13700" y="3721100"/>
            <a:ext cx="2032000" cy="2032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81100" y="8813800"/>
            <a:ext cx="2032000" cy="2032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63700" y="9448800"/>
            <a:ext cx="1054100" cy="762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623300" y="4267200"/>
            <a:ext cx="812800" cy="914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579600" y="4241800"/>
            <a:ext cx="635000" cy="977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547100" y="9347200"/>
            <a:ext cx="965200" cy="9652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426700" y="6451600"/>
            <a:ext cx="3378200" cy="18415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ctr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Main</a:t>
            </a:r>
          </a:p>
          <a:p>
            <a:pPr algn="ctr" lvl="0">
              <a:lnSpc>
                <a:spcPct val="98770"/>
              </a:lnSpc>
            </a:pPr>
            <a:r>
              <a:rPr lang="en-US" sz="5333" b="false" i="false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Keyword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8F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622300"/>
            <a:ext cx="9093200" cy="15240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l" lvl="0">
              <a:lnSpc>
                <a:spcPct val="107899"/>
              </a:lnSpc>
            </a:pPr>
            <a:r>
              <a:rPr lang="en-US" sz="8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Next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B4B5D8"/>
                </a:solidFill>
                <a:latin typeface="IBM Plex Sans KR"/>
                <a:ea typeface="IBM Plex Sans KR"/>
                <a:cs typeface="IBM Plex Sans KR"/>
              </a:rPr>
              <a:t>30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500" y="3530600"/>
            <a:ext cx="8318500" cy="1117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3695700"/>
            <a:ext cx="68961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Advanced prompt 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3900" y="3822700"/>
            <a:ext cx="14122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500" y="8293100"/>
            <a:ext cx="8318500" cy="1117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04900" y="8458200"/>
            <a:ext cx="74930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Practice template downloads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3900" y="8597900"/>
            <a:ext cx="14122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500" y="5905500"/>
            <a:ext cx="8318500" cy="1117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409700" y="6070600"/>
            <a:ext cx="68961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Role-Based Case Studies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3900" y="6210300"/>
            <a:ext cx="14122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8500" y="10680700"/>
            <a:ext cx="8318500" cy="1117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86300" y="5156200"/>
            <a:ext cx="317500" cy="26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86300" y="7543800"/>
            <a:ext cx="317500" cy="266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99000" y="9918700"/>
            <a:ext cx="317500" cy="266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09700" y="10845800"/>
            <a:ext cx="6896100" cy="787400"/>
          </a:xfrm>
          <a:prstGeom prst="rect">
            <a:avLst/>
          </a:prstGeom>
        </p:spPr>
        <p:txBody>
          <a:bodyPr anchor="t" rtlCol="false" lIns="0" tIns="53340" rIns="0" bIns="0"/>
          <a:lstStyle/>
          <a:p>
            <a:pPr algn="ctr" lvl="0">
              <a:lnSpc>
                <a:spcPct val="98770"/>
              </a:lnSpc>
            </a:pPr>
            <a:r>
              <a:rPr lang="en-US" sz="4000" b="false" i="false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Team application guides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13900" y="10972800"/>
            <a:ext cx="14122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9E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83800" y="12788900"/>
            <a:ext cx="711200" cy="431800"/>
          </a:xfrm>
          <a:prstGeom prst="rect">
            <a:avLst/>
          </a:prstGeom>
        </p:spPr>
        <p:txBody>
          <a:bodyPr anchor="t" rtlCol="false" lIns="0" tIns="59014" rIns="0" bIns="0"/>
          <a:lstStyle/>
          <a:p>
            <a:pPr algn="r" lvl="0">
              <a:lnSpc>
                <a:spcPct val="82170"/>
              </a:lnSpc>
            </a:pPr>
            <a:r>
              <a:rPr lang="en-US" sz="22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28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0" y="8509000"/>
            <a:ext cx="11925300" cy="1701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255000" y="9080500"/>
            <a:ext cx="78613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930"/>
              </a:lnSpc>
            </a:pPr>
            <a:r>
              <a:rPr lang="en-US" sz="2666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Try applying it right away, even in small ways.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97800" y="3492500"/>
            <a:ext cx="8813800" cy="2590800"/>
          </a:xfrm>
          <a:prstGeom prst="rect">
            <a:avLst/>
          </a:prstGeom>
        </p:spPr>
        <p:txBody>
          <a:bodyPr anchor="t" rtlCol="false" lIns="0" tIns="325714" rIns="0" bIns="0"/>
          <a:lstStyle/>
          <a:p>
            <a:pPr algn="ctr" lvl="0">
              <a:lnSpc>
                <a:spcPct val="84660"/>
              </a:lnSpc>
            </a:pPr>
            <a:r>
              <a:rPr lang="en-US" sz="13497" b="false" i="false" u="none" strike="noStrike" spc="-3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23000" y="6096000"/>
            <a:ext cx="119380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The AI techniques you learned today will help improve your work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